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6204F"/>
          </a:solidFill>
        </p:spPr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91030" y="1965960"/>
            <a:ext cx="9418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ONLINE AUCTION &amp;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BIDDING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965960" y="40462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PRESENTED BY</a:t>
            </a:r>
            <a:endParaRPr lang="en-IN" altLang="en-US" sz="16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K.Sri Vyshnavi</a:t>
            </a: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</a:t>
            </a:r>
            <a:r>
              <a:rPr lang="en-US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2620030114 </a:t>
            </a:r>
            <a:endParaRPr lang="en-IN" altLang="en-US" sz="16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Sriram Reddy  - </a:t>
            </a:r>
            <a:r>
              <a:rPr lang="en-IN" altLang="en-US" sz="16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2620030135</a:t>
            </a:r>
            <a:r>
              <a:rPr lang="en-IN" altLang="en-US" sz="16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altLang="en-US" sz="1600" i="1" dirty="0">
              <a:solidFill>
                <a:srgbClr val="D4AF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endParaRPr lang="en-IN" altLang="en-US" sz="1600" i="1" dirty="0">
              <a:solidFill>
                <a:srgbClr val="D4AF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5943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Online Auction and Bidding System</a:t>
            </a:r>
            <a:endParaRPr lang="en-IN" altLang="en-US" sz="32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737360"/>
            <a:ext cx="6858000" cy="4297680"/>
          </a:xfrm>
          <a:prstGeom prst="roundRect">
            <a:avLst>
              <a:gd name="adj" fmla="val 2553"/>
            </a:avLst>
          </a:prstGeom>
          <a:solidFill>
            <a:srgbClr val="16204F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612648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Online Auction and Bidding System is a simplified console-based application that simulates how buyers place competitive bids on an item and a winner is decided automatically.
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stores an item's base price and accepts bid amounts from multiple participants, keeping their names and bids together using arrays.
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comparison loop scans through every bid to find the highest value, and the corresponding bidder is declared the winner of the auction.
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is built using fundamental programming concepts — variables, data types, and arrays — making it ideal for beginners learning core logic before moving to database or GUI-based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931920" cy="1298448"/>
          </a:xfrm>
          <a:prstGeom prst="roundRect">
            <a:avLst>
              <a:gd name="adj" fmla="val 7042"/>
            </a:avLst>
          </a:prstGeom>
          <a:solidFill>
            <a:srgbClr val="1E2A63"/>
          </a:solidFill>
        </p:spPr>
      </p:sp>
      <p:sp>
        <p:nvSpPr>
          <p:cNvPr id="7" name="Text 5"/>
          <p:cNvSpPr/>
          <p:nvPr/>
        </p:nvSpPr>
        <p:spPr>
          <a:xfrm>
            <a:off x="7863840" y="1737360"/>
            <a:ext cx="10058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869680" y="1737360"/>
            <a:ext cx="26517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Data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3255264"/>
            <a:ext cx="3931920" cy="1298448"/>
          </a:xfrm>
          <a:prstGeom prst="roundRect">
            <a:avLst>
              <a:gd name="adj" fmla="val 7042"/>
            </a:avLst>
          </a:prstGeom>
          <a:solidFill>
            <a:srgbClr val="1E2A63"/>
          </a:solidFill>
        </p:spPr>
      </p:sp>
      <p:sp>
        <p:nvSpPr>
          <p:cNvPr id="10" name="Text 8"/>
          <p:cNvSpPr/>
          <p:nvPr/>
        </p:nvSpPr>
        <p:spPr>
          <a:xfrm>
            <a:off x="7863840" y="3255264"/>
            <a:ext cx="10058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869680" y="3255264"/>
            <a:ext cx="26517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for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&amp; Bid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4773168"/>
            <a:ext cx="3931920" cy="1298448"/>
          </a:xfrm>
          <a:prstGeom prst="roundRect">
            <a:avLst>
              <a:gd name="adj" fmla="val 7042"/>
            </a:avLst>
          </a:prstGeom>
          <a:solidFill>
            <a:srgbClr val="1E2A63"/>
          </a:solidFill>
        </p:spPr>
      </p:sp>
      <p:sp>
        <p:nvSpPr>
          <p:cNvPr id="13" name="Text 11"/>
          <p:cNvSpPr/>
          <p:nvPr/>
        </p:nvSpPr>
        <p:spPr>
          <a:xfrm>
            <a:off x="7863840" y="4773168"/>
            <a:ext cx="10058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869680" y="4773168"/>
            <a:ext cx="26517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to Pick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Winner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project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77724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7724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 a real-world competitive bidding process using purely fundamental programming logic.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457200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457200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65176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practical, hands-on use of variables, data types, and arrays in one working program.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14" name="Shape 12"/>
          <p:cNvSpPr/>
          <p:nvPr/>
        </p:nvSpPr>
        <p:spPr>
          <a:xfrm>
            <a:off x="8366760" y="20299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15" name="Text 13"/>
          <p:cNvSpPr/>
          <p:nvPr/>
        </p:nvSpPr>
        <p:spPr>
          <a:xfrm>
            <a:off x="8366760" y="2029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94192" y="265176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identify the highest bidder through comparison logic, removing manual tallying.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18" name="Shape 16"/>
          <p:cNvSpPr/>
          <p:nvPr/>
        </p:nvSpPr>
        <p:spPr>
          <a:xfrm>
            <a:off x="777240" y="4590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19" name="Text 17"/>
          <p:cNvSpPr/>
          <p:nvPr/>
        </p:nvSpPr>
        <p:spPr>
          <a:xfrm>
            <a:off x="77724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" y="521208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 simple, beginner-friendly starting point before introducing OOP, files, or databases.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22" name="Shape 20"/>
          <p:cNvSpPr/>
          <p:nvPr/>
        </p:nvSpPr>
        <p:spPr>
          <a:xfrm>
            <a:off x="4572000" y="4590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23" name="Text 21"/>
          <p:cNvSpPr/>
          <p:nvPr/>
        </p:nvSpPr>
        <p:spPr>
          <a:xfrm>
            <a:off x="457200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99432" y="521208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understanding of how loops and conditionals combine to solve a real decision problem.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43891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204F"/>
          </a:solidFill>
        </p:spPr>
      </p:sp>
      <p:sp>
        <p:nvSpPr>
          <p:cNvPr id="26" name="Shape 24"/>
          <p:cNvSpPr/>
          <p:nvPr/>
        </p:nvSpPr>
        <p:spPr>
          <a:xfrm>
            <a:off x="8366760" y="45902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</p:spPr>
      </p:sp>
      <p:sp>
        <p:nvSpPr>
          <p:cNvPr id="27" name="Text 25"/>
          <p:cNvSpPr/>
          <p:nvPr/>
        </p:nvSpPr>
        <p:spPr>
          <a:xfrm>
            <a:off x="836676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94192" y="5212080"/>
            <a:ext cx="300837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foundation that can be scaled into a full-featured GUI or web-based auction platform.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731520" y="208483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31520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Registration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item name, ID, and base price before bidding begins.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6446520" y="208483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6446520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Bidder Support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Array-based structure holds any number of participants and their bids together.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5" name="Shape 13"/>
          <p:cNvSpPr/>
          <p:nvPr/>
        </p:nvSpPr>
        <p:spPr>
          <a:xfrm>
            <a:off x="731520" y="35844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16" name="Text 14"/>
          <p:cNvSpPr/>
          <p:nvPr/>
        </p:nvSpPr>
        <p:spPr>
          <a:xfrm>
            <a:off x="731520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Bid Comparison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bid is checked instantly against the current highest value in the array.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0" name="Shape 18"/>
          <p:cNvSpPr/>
          <p:nvPr/>
        </p:nvSpPr>
        <p:spPr>
          <a:xfrm>
            <a:off x="6446520" y="358444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21" name="Text 19"/>
          <p:cNvSpPr/>
          <p:nvPr/>
        </p:nvSpPr>
        <p:spPr>
          <a:xfrm>
            <a:off x="6446520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Winner Selection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Loop-based logic declares the winner without any manual comparison.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5" name="Shape 23"/>
          <p:cNvSpPr/>
          <p:nvPr/>
        </p:nvSpPr>
        <p:spPr>
          <a:xfrm>
            <a:off x="731520" y="50840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26" name="Text 24"/>
          <p:cNvSpPr/>
          <p:nvPr/>
        </p:nvSpPr>
        <p:spPr>
          <a:xfrm>
            <a:off x="731520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Console Interface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design with no GUI or database dependency — easy to trace and learn.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0" name="Shape 28"/>
          <p:cNvSpPr/>
          <p:nvPr/>
        </p:nvSpPr>
        <p:spPr>
          <a:xfrm>
            <a:off x="6446520" y="50840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D4AF37"/>
          </a:solidFill>
        </p:spPr>
      </p:sp>
      <p:sp>
        <p:nvSpPr>
          <p:cNvPr id="31" name="Text 29"/>
          <p:cNvSpPr/>
          <p:nvPr/>
        </p:nvSpPr>
        <p:spPr>
          <a:xfrm>
            <a:off x="6446520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Extensible Structure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scaled up to classes, objects, file storage, or a full front-end later.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6" name="Text 4"/>
          <p:cNvSpPr/>
          <p:nvPr/>
        </p:nvSpPr>
        <p:spPr>
          <a:xfrm>
            <a:off x="749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 Accessibility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Bidders can view items and place bids anytime, without needing a physical auction house.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6464808" y="2084832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6464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Wider Reach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Sellers can reach many more potential buyers than a local, in-person auction.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5" name="Shape 13"/>
          <p:cNvSpPr/>
          <p:nvPr/>
        </p:nvSpPr>
        <p:spPr>
          <a:xfrm>
            <a:off x="749808" y="3584448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6" name="Text 14"/>
          <p:cNvSpPr/>
          <p:nvPr/>
        </p:nvSpPr>
        <p:spPr>
          <a:xfrm>
            <a:off x="749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Transparent Bidding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bid is recorded and compared openly, so the highest offer always wins fairly.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0" name="Shape 18"/>
          <p:cNvSpPr/>
          <p:nvPr/>
        </p:nvSpPr>
        <p:spPr>
          <a:xfrm>
            <a:off x="6464808" y="3584448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21" name="Text 19"/>
          <p:cNvSpPr/>
          <p:nvPr/>
        </p:nvSpPr>
        <p:spPr>
          <a:xfrm>
            <a:off x="6464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Time-Saving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comparison logic instantly determines the winner — no manual tallying needed.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5" name="Shape 23"/>
          <p:cNvSpPr/>
          <p:nvPr/>
        </p:nvSpPr>
        <p:spPr>
          <a:xfrm>
            <a:off x="749808" y="5084064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26" name="Text 24"/>
          <p:cNvSpPr/>
          <p:nvPr/>
        </p:nvSpPr>
        <p:spPr>
          <a:xfrm>
            <a:off x="749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Cost-Effective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need for a physical venue, auctioneer, or printed catalogues — reduces overhead.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0" name="Shape 28"/>
          <p:cNvSpPr/>
          <p:nvPr/>
        </p:nvSpPr>
        <p:spPr>
          <a:xfrm>
            <a:off x="6464808" y="5084064"/>
            <a:ext cx="512064" cy="51206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31" name="Text 29"/>
          <p:cNvSpPr/>
          <p:nvPr/>
        </p:nvSpPr>
        <p:spPr>
          <a:xfrm>
            <a:off x="6464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Scale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 simple arrays and loops, the core logic can grow to support more bidders or items.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6" name="Text 4"/>
          <p:cNvSpPr/>
          <p:nvPr/>
        </p:nvSpPr>
        <p:spPr>
          <a:xfrm>
            <a:off x="749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Physical Inspection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Bidders cannot examine the item in person before placing a bid, unlike a live auction.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0" name="Shape 8"/>
          <p:cNvSpPr/>
          <p:nvPr/>
        </p:nvSpPr>
        <p:spPr>
          <a:xfrm>
            <a:off x="6464808" y="2084832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11" name="Text 9"/>
          <p:cNvSpPr/>
          <p:nvPr/>
        </p:nvSpPr>
        <p:spPr>
          <a:xfrm>
            <a:off x="6464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of Fake Bidding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verification, a system can be misused by placing false or duplicate bids.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5" name="Shape 13"/>
          <p:cNvSpPr/>
          <p:nvPr/>
        </p:nvSpPr>
        <p:spPr>
          <a:xfrm>
            <a:off x="749808" y="3584448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16" name="Text 14"/>
          <p:cNvSpPr/>
          <p:nvPr/>
        </p:nvSpPr>
        <p:spPr>
          <a:xfrm>
            <a:off x="749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Dependency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a stable internet connection; access issues can cause a bidder to miss 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0" name="Shape 18"/>
          <p:cNvSpPr/>
          <p:nvPr/>
        </p:nvSpPr>
        <p:spPr>
          <a:xfrm>
            <a:off x="6464808" y="3584448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21" name="Text 19"/>
          <p:cNvSpPr/>
          <p:nvPr/>
        </p:nvSpPr>
        <p:spPr>
          <a:xfrm>
            <a:off x="6464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Beginner Scope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basic array-based version has no persistent storage — data resets each run.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5" name="Shape 23"/>
          <p:cNvSpPr/>
          <p:nvPr/>
        </p:nvSpPr>
        <p:spPr>
          <a:xfrm>
            <a:off x="749808" y="5084064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26" name="Text 24"/>
          <p:cNvSpPr/>
          <p:nvPr/>
        </p:nvSpPr>
        <p:spPr>
          <a:xfrm>
            <a:off x="749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Concerns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and personal details need strong protection, which a simple console app lacks.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0" name="Shape 28"/>
          <p:cNvSpPr/>
          <p:nvPr/>
        </p:nvSpPr>
        <p:spPr>
          <a:xfrm>
            <a:off x="6464808" y="5084064"/>
            <a:ext cx="512064" cy="51206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31" name="Text 29"/>
          <p:cNvSpPr/>
          <p:nvPr/>
        </p:nvSpPr>
        <p:spPr>
          <a:xfrm>
            <a:off x="6464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Curve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users may need time to understand how competitive real-time bidding works.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used to design and run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777240" y="19842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7724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8620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language used to write all logic — variables, arrays, loops and conditionals.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11" name="Shape 9"/>
          <p:cNvSpPr/>
          <p:nvPr/>
        </p:nvSpPr>
        <p:spPr>
          <a:xfrm>
            <a:off x="4572000" y="19842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457200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25603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JDK (javac / java)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9432" y="28620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and runs the program directly from the command line.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16" name="Shape 14"/>
          <p:cNvSpPr/>
          <p:nvPr/>
        </p:nvSpPr>
        <p:spPr>
          <a:xfrm>
            <a:off x="8366760" y="19842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836676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4192" y="25603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Editor / IDE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94192" y="28620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editor works — VS Code, IntelliJ, Eclipse, or even an online compiler.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21" name="Shape 19"/>
          <p:cNvSpPr/>
          <p:nvPr/>
        </p:nvSpPr>
        <p:spPr>
          <a:xfrm>
            <a:off x="777240" y="38130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22" name="Text 20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4672" y="43891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 Prompt / Terminal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6908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execute the compiled program and view console output.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26" name="Shape 24"/>
          <p:cNvSpPr/>
          <p:nvPr/>
        </p:nvSpPr>
        <p:spPr>
          <a:xfrm>
            <a:off x="4572000" y="38130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27" name="Text 25"/>
          <p:cNvSpPr/>
          <p:nvPr/>
        </p:nvSpPr>
        <p:spPr>
          <a:xfrm>
            <a:off x="4572000" y="38130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99432" y="43891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Libraries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99432" y="46908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entirely with Java's built-in features — no frameworks required.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6118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6204F"/>
          </a:solidFill>
        </p:spPr>
      </p:sp>
      <p:sp>
        <p:nvSpPr>
          <p:cNvPr id="31" name="Shape 29"/>
          <p:cNvSpPr/>
          <p:nvPr/>
        </p:nvSpPr>
        <p:spPr>
          <a:xfrm>
            <a:off x="8366760" y="3813048"/>
            <a:ext cx="457200" cy="457200"/>
          </a:xfrm>
          <a:prstGeom prst="roundRect">
            <a:avLst>
              <a:gd name="adj" fmla="val 56000"/>
            </a:avLst>
          </a:prstGeom>
          <a:solidFill>
            <a:srgbClr val="D4AF37"/>
          </a:solidFill>
        </p:spPr>
      </p:sp>
      <p:sp>
        <p:nvSpPr>
          <p:cNvPr id="32" name="Text 30"/>
          <p:cNvSpPr/>
          <p:nvPr/>
        </p:nvSpPr>
        <p:spPr>
          <a:xfrm>
            <a:off x="8366760" y="38130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94192" y="4389120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Database (yet)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94192" y="4690872"/>
            <a:ext cx="3008376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held temporarily in arrays for this beginner-level version.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 used to build the bidding logic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548640" y="1783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548640" y="17830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Declare Variables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the item name, base price, and auction status using basic data types (String, int, double, boolean).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11" name="Shape 9"/>
          <p:cNvSpPr/>
          <p:nvPr/>
        </p:nvSpPr>
        <p:spPr>
          <a:xfrm>
            <a:off x="548640" y="28346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548640" y="28346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9260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Arrays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two parallel arrays — one for bidder names, one for their bid amounts — to hold multiple bidders together.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16" name="Shape 14"/>
          <p:cNvSpPr/>
          <p:nvPr/>
        </p:nvSpPr>
        <p:spPr>
          <a:xfrm>
            <a:off x="548640" y="3886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548640" y="38862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9776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&amp; Compare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Traverse the arrays with a for-loop, printing each bid and comparing it against the current highest bid.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4F"/>
          </a:solidFill>
        </p:spPr>
      </p:sp>
      <p:sp>
        <p:nvSpPr>
          <p:cNvPr id="21" name="Shape 19"/>
          <p:cNvSpPr/>
          <p:nvPr/>
        </p:nvSpPr>
        <p:spPr>
          <a:xfrm>
            <a:off x="548640" y="493776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</p:spPr>
      </p:sp>
      <p:sp>
        <p:nvSpPr>
          <p:cNvPr id="22" name="Text 20"/>
          <p:cNvSpPr/>
          <p:nvPr/>
        </p:nvSpPr>
        <p:spPr>
          <a:xfrm>
            <a:off x="548640" y="4937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50292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Declare the Winner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502920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the loop finishes, the bidder linked to the highest value in the array is printed as the auction winner.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used: Java  |  Level: Beginner (Data Types → Variables → Arrays)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program moves from input to a declared winner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9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1289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is ready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bidding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05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11" name="Shape 9"/>
          <p:cNvSpPr/>
          <p:nvPr/>
        </p:nvSpPr>
        <p:spPr>
          <a:xfrm>
            <a:off x="2834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5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3" name="Text 11"/>
          <p:cNvSpPr/>
          <p:nvPr/>
        </p:nvSpPr>
        <p:spPr>
          <a:xfrm>
            <a:off x="3575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price &amp; arrays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names / bids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91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17" name="Shape 15"/>
          <p:cNvSpPr/>
          <p:nvPr/>
        </p:nvSpPr>
        <p:spPr>
          <a:xfrm>
            <a:off x="5120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61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9" name="Text 17"/>
          <p:cNvSpPr/>
          <p:nvPr/>
        </p:nvSpPr>
        <p:spPr>
          <a:xfrm>
            <a:off x="5861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Traverse each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 by index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77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23" name="Shape 21"/>
          <p:cNvSpPr/>
          <p:nvPr/>
        </p:nvSpPr>
        <p:spPr>
          <a:xfrm>
            <a:off x="7406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D4AF37"/>
          </a:solidFill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7304" y="2331720"/>
            <a:ext cx="438912" cy="43891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8147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bid greater than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highestBid 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63456" y="2985516"/>
            <a:ext cx="292608" cy="292608"/>
          </a:xfrm>
          <a:prstGeom prst="chevron">
            <a:avLst/>
          </a:prstGeom>
          <a:solidFill>
            <a:srgbClr val="D4AF37"/>
          </a:solidFill>
        </p:spPr>
      </p:sp>
      <p:sp>
        <p:nvSpPr>
          <p:cNvPr id="29" name="Shape 27"/>
          <p:cNvSpPr/>
          <p:nvPr/>
        </p:nvSpPr>
        <p:spPr>
          <a:xfrm>
            <a:off x="9692640" y="2148840"/>
            <a:ext cx="1920240" cy="1965960"/>
          </a:xfrm>
          <a:prstGeom prst="roundRect">
            <a:avLst>
              <a:gd name="adj" fmla="val 5714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33304" y="2331720"/>
            <a:ext cx="438912" cy="438912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31" name="Text 29"/>
          <p:cNvSpPr/>
          <p:nvPr/>
        </p:nvSpPr>
        <p:spPr>
          <a:xfrm>
            <a:off x="10433304" y="23317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84080" y="286207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29800" y="32004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ends; highest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bidder is shown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bid is greater → update highestBid &amp; highestBidder.  If not → continue to the next bidder.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04F"/>
          </a:solidFill>
          <a:ln w="12700">
            <a:solidFill>
              <a:srgbClr val="1E2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0566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step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50749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D4AF37"/>
          </a:solidFill>
        </p:spPr>
      </p:sp>
      <p:sp>
        <p:nvSpPr>
          <p:cNvPr id="38" name="Text 36"/>
          <p:cNvSpPr/>
          <p:nvPr/>
        </p:nvSpPr>
        <p:spPr>
          <a:xfrm>
            <a:off x="3291840" y="50566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point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Data Types &amp; Variables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declaring the item details using primitive data types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F1740"/>
          </a:solidFill>
          <a:ln w="12700">
            <a:solidFill>
              <a:srgbClr val="1E2A63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47472"/>
          </a:xfrm>
          <a:prstGeom prst="roundRect">
            <a:avLst>
              <a:gd name="adj" fmla="val 21053"/>
            </a:avLst>
          </a:prstGeom>
          <a:solidFill>
            <a:srgbClr val="1E2A63"/>
          </a:solidFill>
        </p:spPr>
      </p:sp>
      <p:sp>
        <p:nvSpPr>
          <p:cNvPr id="7" name="Shape 5"/>
          <p:cNvSpPr/>
          <p:nvPr/>
        </p:nvSpPr>
        <p:spPr>
          <a:xfrm>
            <a:off x="548640" y="1865376"/>
            <a:ext cx="11064240" cy="173736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14630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969264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1225296" y="1792224"/>
            <a:ext cx="146304" cy="14630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1554480" y="1691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OnlineAuction.java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10424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 class OnlineAuction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public static void main(String[] args)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---- Basic data types &amp; variables ----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itemName    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"Vintage Watch";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   itemId       = 101;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double basePrice    = 500.0;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double highestBid   = basePrice;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highestBidder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"None";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   totalBidders = 5;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boolean auctionOpen = true;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"Item: " + itemName);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"Base Price: " + basePrice);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String, int, double and boolean store the item name, ID, price and auction state.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Arrays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storing multiple bidders and their bid amounts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F1740"/>
          </a:solidFill>
          <a:ln w="12700">
            <a:solidFill>
              <a:srgbClr val="1E2A63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47472"/>
          </a:xfrm>
          <a:prstGeom prst="roundRect">
            <a:avLst>
              <a:gd name="adj" fmla="val 21053"/>
            </a:avLst>
          </a:prstGeom>
          <a:solidFill>
            <a:srgbClr val="1E2A63"/>
          </a:solidFill>
        </p:spPr>
      </p:sp>
      <p:sp>
        <p:nvSpPr>
          <p:cNvPr id="7" name="Shape 5"/>
          <p:cNvSpPr/>
          <p:nvPr/>
        </p:nvSpPr>
        <p:spPr>
          <a:xfrm>
            <a:off x="548640" y="1865376"/>
            <a:ext cx="11064240" cy="173736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14630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969264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1225296" y="1792224"/>
            <a:ext cx="146304" cy="14630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1554480" y="1691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OnlineAuction.java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10424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---- Arrays to store bidder data ----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String[] bidderNames = new String[totalBidders];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double[] bidAmounts  = new double[totalBidders];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bidderNames[0]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"Ravi";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bidAmounts[0] = 550.0;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bidderNames[1]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"Sneha";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bidAmounts[1] = 620.0;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bidderNames[2]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"Arjun";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bidAmounts[2] = 590.0;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bidderNames[3]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"Meera";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bidAmounts[3] = 675.0;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bidderNames[4] =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"Kabir";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bidAmounts[4] = 640.0;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parallel arrays link each bidder's name to their bid amount by matching index position.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Comparison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looping through the arrays to pick the winning bid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F1740"/>
          </a:solidFill>
          <a:ln w="12700">
            <a:solidFill>
              <a:srgbClr val="1E2A63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47472"/>
          </a:xfrm>
          <a:prstGeom prst="roundRect">
            <a:avLst>
              <a:gd name="adj" fmla="val 21053"/>
            </a:avLst>
          </a:prstGeom>
          <a:solidFill>
            <a:srgbClr val="1E2A63"/>
          </a:solidFill>
        </p:spPr>
      </p:sp>
      <p:sp>
        <p:nvSpPr>
          <p:cNvPr id="7" name="Shape 5"/>
          <p:cNvSpPr/>
          <p:nvPr/>
        </p:nvSpPr>
        <p:spPr>
          <a:xfrm>
            <a:off x="548640" y="1865376"/>
            <a:ext cx="11064240" cy="173736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8" name="Shape 6"/>
          <p:cNvSpPr/>
          <p:nvPr/>
        </p:nvSpPr>
        <p:spPr>
          <a:xfrm>
            <a:off x="713232" y="1792224"/>
            <a:ext cx="146304" cy="146304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969264" y="1792224"/>
            <a:ext cx="146304" cy="146304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1225296" y="1792224"/>
            <a:ext cx="146304" cy="146304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1554480" y="16916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OnlineAuction.java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94560"/>
            <a:ext cx="10424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---- Find the highest bid using a loop ----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for (int i = 0; i &lt; totalBidders; i++)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System.out.println(bidderNames[i] + 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 bids Rs."</a:t>
            </a: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+ bidAmounts[i]);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if (bidAmounts[i] &gt; highestBid) {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highestBid = bidAmounts[i];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highestBidder = bidderNames[i];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"Winner: " + highestBidder);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System.out.println(</a:t>
            </a:r>
            <a:r>
              <a:rPr lang="en-US" sz="1350" dirty="0">
                <a:solidFill>
                  <a:srgbClr val="D4AF3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"Winning Bid: Rs." + highestBid);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01675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for-loop walks the array once, updating highestBid and highestBidder whenever a bigger bid is found.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output after running OnlineAuction.java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1554480" y="1737360"/>
            <a:ext cx="9052560" cy="4206240"/>
          </a:xfrm>
          <a:prstGeom prst="roundRect">
            <a:avLst>
              <a:gd name="adj" fmla="val 1739"/>
            </a:avLst>
          </a:prstGeom>
          <a:solidFill>
            <a:srgbClr val="05070F"/>
          </a:solidFill>
          <a:ln w="12700">
            <a:solidFill>
              <a:srgbClr val="1E2A63"/>
            </a:solidFill>
            <a:prstDash val="solid"/>
          </a:ln>
          <a:effectLst>
            <a:outerShdw blurRad="1524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737360"/>
            <a:ext cx="9052560" cy="365760"/>
          </a:xfrm>
          <a:prstGeom prst="roundRect">
            <a:avLst>
              <a:gd name="adj" fmla="val 20000"/>
            </a:avLst>
          </a:prstGeom>
          <a:solidFill>
            <a:srgbClr val="1A2352"/>
          </a:solidFill>
        </p:spPr>
      </p:sp>
      <p:sp>
        <p:nvSpPr>
          <p:cNvPr id="7" name="Shape 5"/>
          <p:cNvSpPr/>
          <p:nvPr/>
        </p:nvSpPr>
        <p:spPr>
          <a:xfrm>
            <a:off x="1554480" y="1920240"/>
            <a:ext cx="9052560" cy="182880"/>
          </a:xfrm>
          <a:prstGeom prst="rect">
            <a:avLst/>
          </a:prstGeom>
          <a:solidFill>
            <a:srgbClr val="1A2352"/>
          </a:solidFill>
        </p:spPr>
      </p:sp>
      <p:sp>
        <p:nvSpPr>
          <p:cNvPr id="8" name="Shape 6"/>
          <p:cNvSpPr/>
          <p:nvPr/>
        </p:nvSpPr>
        <p:spPr>
          <a:xfrm>
            <a:off x="1737360" y="1847088"/>
            <a:ext cx="155448" cy="155448"/>
          </a:xfrm>
          <a:prstGeom prst="ellipse">
            <a:avLst/>
          </a:prstGeom>
          <a:solidFill>
            <a:srgbClr val="EB5757"/>
          </a:solidFill>
        </p:spPr>
      </p:sp>
      <p:sp>
        <p:nvSpPr>
          <p:cNvPr id="9" name="Shape 7"/>
          <p:cNvSpPr/>
          <p:nvPr/>
        </p:nvSpPr>
        <p:spPr>
          <a:xfrm>
            <a:off x="2011680" y="1847088"/>
            <a:ext cx="155448" cy="155448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Shape 8"/>
          <p:cNvSpPr/>
          <p:nvPr/>
        </p:nvSpPr>
        <p:spPr>
          <a:xfrm>
            <a:off x="2286000" y="1847088"/>
            <a:ext cx="155448" cy="155448"/>
          </a:xfrm>
          <a:prstGeom prst="ellipse">
            <a:avLst/>
          </a:prstGeom>
          <a:solidFill>
            <a:srgbClr val="6FCF97"/>
          </a:solidFill>
        </p:spPr>
      </p:sp>
      <p:sp>
        <p:nvSpPr>
          <p:cNvPr id="11" name="Text 9"/>
          <p:cNvSpPr/>
          <p:nvPr/>
        </p:nvSpPr>
        <p:spPr>
          <a:xfrm>
            <a:off x="5212080" y="1737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9BD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 — Command Prompt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83210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Item: Vintage Watch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 Price: 500.0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Ravi bids Rs.550.0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Sneha bids Rs.620.0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Arjun bids Rs.590.0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Meera bids Rs.675.0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Kabir bids Rs.640.0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Winner: Meera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FCF9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Winning Bid: Rs.675.0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Meera's bid of Rs.675.0 is the highest in the array, so the loop selects her as the auction winner.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this beginner-level version can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6" name="Shape 4"/>
          <p:cNvSpPr/>
          <p:nvPr/>
        </p:nvSpPr>
        <p:spPr>
          <a:xfrm>
            <a:off x="749808" y="2084832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749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Graphical / Web Interface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the console with a JavaFX desktop app or a web front-end for real bidders.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1" name="Shape 9"/>
          <p:cNvSpPr/>
          <p:nvPr/>
        </p:nvSpPr>
        <p:spPr>
          <a:xfrm>
            <a:off x="6464808" y="2084832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6464808" y="208483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80136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130552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items, bidders and bid history permanently using MySQL or a file-based store.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16" name="Shape 14"/>
          <p:cNvSpPr/>
          <p:nvPr/>
        </p:nvSpPr>
        <p:spPr>
          <a:xfrm>
            <a:off x="749808" y="3584448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7" name="Text 15"/>
          <p:cNvSpPr/>
          <p:nvPr/>
        </p:nvSpPr>
        <p:spPr>
          <a:xfrm>
            <a:off x="749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login and registration so each buyer and seller has a secure, verified account.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19125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1" name="Shape 19"/>
          <p:cNvSpPr/>
          <p:nvPr/>
        </p:nvSpPr>
        <p:spPr>
          <a:xfrm>
            <a:off x="6464808" y="3584448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2" name="Text 20"/>
          <p:cNvSpPr/>
          <p:nvPr/>
        </p:nvSpPr>
        <p:spPr>
          <a:xfrm>
            <a:off x="6464808" y="35844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330098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Countdown Timer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0" y="3630168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a live timer for each auction so bidding closes automatically.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26" name="Shape 24"/>
          <p:cNvSpPr/>
          <p:nvPr/>
        </p:nvSpPr>
        <p:spPr>
          <a:xfrm>
            <a:off x="749808" y="5084064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7" name="Text 25"/>
          <p:cNvSpPr/>
          <p:nvPr/>
        </p:nvSpPr>
        <p:spPr>
          <a:xfrm>
            <a:off x="749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417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Object-Oriented Redesign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arrays into classes such as Item, Bidder and Auction for cleaner structure.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690872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16204F"/>
          </a:solidFill>
        </p:spPr>
      </p:sp>
      <p:sp>
        <p:nvSpPr>
          <p:cNvPr id="31" name="Shape 29"/>
          <p:cNvSpPr/>
          <p:nvPr/>
        </p:nvSpPr>
        <p:spPr>
          <a:xfrm>
            <a:off x="6464808" y="5084064"/>
            <a:ext cx="512064" cy="512064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2" name="Text 30"/>
          <p:cNvSpPr/>
          <p:nvPr/>
        </p:nvSpPr>
        <p:spPr>
          <a:xfrm>
            <a:off x="6464808" y="50840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0" y="480060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&amp; Alerts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132320" y="5129784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an email or SMS alert whenever a bidder is outbid by someone else.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E2A63"/>
          </a:solidFill>
        </p:spPr>
      </p:sp>
      <p:sp>
        <p:nvSpPr>
          <p:cNvPr id="4" name="Shape 2"/>
          <p:cNvSpPr/>
          <p:nvPr/>
        </p:nvSpPr>
        <p:spPr>
          <a:xfrm>
            <a:off x="548640" y="1783080"/>
            <a:ext cx="11064240" cy="4023360"/>
          </a:xfrm>
          <a:prstGeom prst="roundRect">
            <a:avLst>
              <a:gd name="adj" fmla="val 2727"/>
            </a:avLst>
          </a:prstGeom>
          <a:solidFill>
            <a:srgbClr val="16204F"/>
          </a:solidFill>
        </p:spPr>
      </p:sp>
      <p:sp>
        <p:nvSpPr>
          <p:cNvPr id="5" name="Shape 3"/>
          <p:cNvSpPr/>
          <p:nvPr/>
        </p:nvSpPr>
        <p:spPr>
          <a:xfrm>
            <a:off x="914400" y="2112264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1234440" y="1965960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Online Auction and Bidding System demonstrates how core programming basics — variables, data types, and arrays — can model a real-world competitive process.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08376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8" name="Text 6"/>
          <p:cNvSpPr/>
          <p:nvPr/>
        </p:nvSpPr>
        <p:spPr>
          <a:xfrm>
            <a:off x="1234440" y="2862072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Storing bidder names and amounts in parallel arrays, then looping through them, is enough to reliably find the highest bid and declare a winner.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904488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1234440" y="3758184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beginner-level version lays the foundation; it can later be extended with classes, file/database storage, and a graphical or web interface.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128016" cy="128016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2" name="Text 10"/>
          <p:cNvSpPr/>
          <p:nvPr/>
        </p:nvSpPr>
        <p:spPr>
          <a:xfrm>
            <a:off x="1234440" y="4654296"/>
            <a:ext cx="99669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Overall, the project shows that even simple, fundamental logic can power a functional and understandable bidding simulation.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6204F"/>
          </a:solidFill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1E2A63"/>
          </a:solidFill>
        </p:spPr>
      </p:sp>
      <p:sp>
        <p:nvSpPr>
          <p:cNvPr id="4" name="Text 2"/>
          <p:cNvSpPr/>
          <p:nvPr/>
        </p:nvSpPr>
        <p:spPr>
          <a:xfrm>
            <a:off x="0" y="2370455"/>
            <a:ext cx="12161520" cy="1287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Auction &amp; Bidding System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9014</Words>
  <Application>WPS Presentation</Application>
  <PresentationFormat>On-screen Show (16:9)</PresentationFormat>
  <Paragraphs>483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SRiRAM REDDY</cp:lastModifiedBy>
  <cp:revision>2</cp:revision>
  <dcterms:created xsi:type="dcterms:W3CDTF">2026-09-19T09:29:00Z</dcterms:created>
  <dcterms:modified xsi:type="dcterms:W3CDTF">2026-09-19T09:35:53Z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538D327C89654511800B48531ADF217A_12</vt:lpwstr>
  </property>
</Properties>
</file>